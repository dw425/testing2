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6EDF3"/>
                </a:solidFill>
                <a:latin typeface="Calibri"/>
              </a:defRPr>
            </a:pPr>
            <a:r>
              <a:t>LHO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B7BF5"/>
                </a:solidFill>
                <a:latin typeface="Calibri"/>
              </a:defRPr>
            </a:pPr>
            <a:r>
              <a:t>Lakehouse Optimizer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Calibri"/>
              </a:defRPr>
            </a:pPr>
            <a:r>
              <a:t>Comprehensive Databricks Workspace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6495" cy="18288"/>
          </a:xfrm>
          <a:prstGeom prst="rect">
            <a:avLst/>
          </a:prstGeom>
          <a:solidFill>
            <a:srgbClr val="27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B7BF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Dashboard Tabs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B7BF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System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B7BF5"/>
                </a:solidFill>
                <a:latin typeface="Calibri"/>
              </a:defRPr>
            </a:pPr>
            <a:r>
              <a:t>22+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B7BF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Compliance Frameworks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59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B7BF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Security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by Blueprint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Deploy in 5 minutes  |  Zero infrastructure  |  AWS / Azure / GCP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What LHO Lite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14 interactive dashboard tabs providing complete workspace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77295" cy="740664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Executive Summary</a:t>
            </a:r>
            <a:r>
              <a:rPr sz="1100">
                <a:solidFill>
                  <a:srgbClr val="8B949E"/>
                </a:solidFill>
                <a:latin typeface="Calibri"/>
              </a:rPr>
              <a:t> — Security grade, cost, queries, findings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2763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Workspace Overview</a:t>
            </a:r>
            <a:r>
              <a:rPr sz="1100">
                <a:solidFill>
                  <a:srgbClr val="8B949E"/>
                </a:solidFill>
                <a:latin typeface="Calibri"/>
              </a:rPr>
              <a:t> — Full inventory of users, clusters, catalogs, config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76272"/>
            <a:ext cx="11277295" cy="740664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21991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Compliance</a:t>
            </a:r>
            <a:r>
              <a:rPr sz="1100">
                <a:solidFill>
                  <a:srgbClr val="8B949E"/>
                </a:solidFill>
                <a:latin typeface="Calibri"/>
              </a:rPr>
              <a:t> — HIPAA, FedRAMP, SOC 2, RBAC assessments with NIST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7802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Architecture</a:t>
            </a:r>
            <a:r>
              <a:rPr sz="1100">
                <a:solidFill>
                  <a:srgbClr val="8B949E"/>
                </a:solidFill>
                <a:latin typeface="Calibri"/>
              </a:rPr>
              <a:t> — Mermaid topology diagrams of workspace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26664"/>
            <a:ext cx="11277295" cy="1508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72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7BF5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7238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Infrastructure</a:t>
            </a:r>
            <a:r>
              <a:rPr sz="1100">
                <a:solidFill>
                  <a:srgbClr val="8B949E"/>
                </a:solidFill>
                <a:latin typeface="Calibri"/>
              </a:rPr>
              <a:t> — Cluster &amp; warehouse inventory with encryption/auto-stop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28415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Spend Overview</a:t>
            </a:r>
            <a:r>
              <a:rPr sz="1100">
                <a:solidFill>
                  <a:srgbClr val="8B949E"/>
                </a:solidFill>
                <a:latin typeface="Calibri"/>
              </a:rPr>
              <a:t> — 90-day cost trending by category, tag, and daily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844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Workflows</a:t>
            </a:r>
            <a:r>
              <a:rPr sz="1100">
                <a:solidFill>
                  <a:srgbClr val="8B949E"/>
                </a:solidFill>
                <a:latin typeface="Calibri"/>
              </a:rPr>
              <a:t> — Job run performance with success/failure rates and cost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4048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Cost Explorer</a:t>
            </a:r>
            <a:r>
              <a:rPr sz="1100">
                <a:solidFill>
                  <a:srgbClr val="8B949E"/>
                </a:solidFill>
                <a:latin typeface="Calibri"/>
              </a:rPr>
              <a:t> — Drill-down to billing line items by SKU, warehouse, job,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96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Cost Details</a:t>
            </a:r>
            <a:r>
              <a:rPr sz="1100">
                <a:solidFill>
                  <a:srgbClr val="8B949E"/>
                </a:solidFill>
                <a:latin typeface="Calibri"/>
              </a:rPr>
              <a:t> — Cost estimation breakdown by user and compute category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45152"/>
            <a:ext cx="11277295" cy="15087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DATA &amp;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6908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Apps &amp; Models</a:t>
            </a:r>
            <a:r>
              <a:rPr sz="1100">
                <a:solidFill>
                  <a:srgbClr val="8B949E"/>
                </a:solidFill>
                <a:latin typeface="Calibri"/>
              </a:rPr>
              <a:t> — Databricks Apps inventory and model serving endpoint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94690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Table Inventory</a:t>
            </a:r>
            <a:r>
              <a:rPr sz="1100">
                <a:solidFill>
                  <a:srgbClr val="8B949E"/>
                </a:solidFill>
                <a:latin typeface="Calibri"/>
              </a:rPr>
              <a:t> — Data asset discovery with storage analysis and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20293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User Activity</a:t>
            </a:r>
            <a:r>
              <a:rPr sz="1100">
                <a:solidFill>
                  <a:srgbClr val="8B949E"/>
                </a:solidFill>
                <a:latin typeface="Calibri"/>
              </a:rPr>
              <a:t> — Per-user query stats, data read volumes, compute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5896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Daily Trends</a:t>
            </a:r>
            <a:r>
              <a:rPr sz="1100">
                <a:solidFill>
                  <a:srgbClr val="8B949E"/>
                </a:solidFill>
                <a:latin typeface="Calibri"/>
              </a:rPr>
              <a:t> — Time-series analysis with heatmaps and dual-axis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Calibri"/>
              </a:defRPr>
            </a:pPr>
            <a:r>
              <a:rPr b="1" sz="1100">
                <a:solidFill>
                  <a:srgbClr val="E6EDF3"/>
                </a:solidFill>
                <a:latin typeface="Calibri"/>
              </a:rPr>
              <a:t>DBU Pricing</a:t>
            </a:r>
            <a:r>
              <a:rPr sz="1100">
                <a:solidFill>
                  <a:srgbClr val="8B949E"/>
                </a:solidFill>
                <a:latin typeface="Calibri"/>
              </a:rPr>
              <a:t> — Current Databricks pricing reference by SKU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LHO Lite by Blueprint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Data Sources &amp; Critical Security Factors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377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B7BF5"/>
                </a:solidFill>
                <a:latin typeface="Calibri"/>
              </a:defRPr>
            </a:pPr>
            <a:r>
              <a:t>SYSTEM TABLES (Real Billing &amp; Query Data)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system.billing.usage — 90-day cost by product, tag, job, warehouse, notebook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system.billing.list_prices — Current DBU pricing for all SKUs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system.query.history — 30-day user queries with status, GB read, duration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system.compute.warehouse_events — Warehouse scaling events and utilization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system.lakeflow.job_run_timeline — Job runs with success/failure and duration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system.information_schema.tables — Table catalog with storage sizes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REST APIs (22+ Endpoints)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SCIM — Users, Groups, Service Principals (identity &amp; admin analysis)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Clusters &amp; Warehouses — Compute inventory, encryption, auto-termination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Unity Catalog — Catalogs, metastores, credentials, shares, locations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Workspace Config — 13 security flags (export, download, tokens, IP lists)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Token Management — PAT lifecycle, expiration monitoring</a:t>
            </a:r>
          </a:p>
          <a:p>
            <a:pPr>
              <a:spcBef>
                <a:spcPts val="400"/>
              </a:spcBef>
              <a:defRPr sz="1200" b="0">
                <a:solidFill>
                  <a:srgbClr val="E6EDF3"/>
                </a:solidFill>
                <a:latin typeface="Calibri"/>
              </a:defRPr>
            </a:pPr>
            <a:r>
              <a:t>Apps &amp; Serving — Databricks Apps + model endpoint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16 Automated Security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60520"/>
            <a:ext cx="3749039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Hardcoded credentials in init scripts (AWS keys, passwords, Azure secrets)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Excessive admin accounts (&gt;20% admin ratio)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Non-GovCloud deployment for regulated workloads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160520"/>
            <a:ext cx="3749039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No IP access lists (open network boundary)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Token lifetime exceeding 90 days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Cluster disk encryption disabled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Legacy security modes (data_security_mode=NONE)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Missing session management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160520"/>
            <a:ext cx="3749039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7BF5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4805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External/non-org email domains in workspace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Personal email accounts (gmail, outlook)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Insufficient secret scopes for credential management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Delta Sharing with external recipients</a:t>
            </a:r>
          </a:p>
          <a:p>
            <a:pPr>
              <a:spcBef>
                <a:spcPts val="3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  Clusters without auto-termination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LHO Lite by Blueprint 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Deploy in 5 Minutes, Zero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One notebook. One click. Full workspace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508760"/>
            <a:ext cx="548640" cy="548640"/>
          </a:xfrm>
          <a:prstGeom prst="ellipse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  <a:latin typeface="Calibri"/>
              </a:defRPr>
            </a:pPr>
            <a:r>
              <a:t>Import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Import the installer notebook</a:t>
            </a:r>
            <a:br/>
            <a:r>
              <a:t>into your Databricks workspace.</a:t>
            </a:r>
            <a:br/>
            <a:r>
              <a:t>No Terraform, no CI/CD, no</a:t>
            </a:r>
            <a:br/>
            <a:r>
              <a:t>external servers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50876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  <a:latin typeface="Calibri"/>
              </a:defRPr>
            </a:pPr>
            <a:r>
              <a:t>Run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Enter your license key and</a:t>
            </a:r>
            <a:br/>
            <a:r>
              <a:t>click Run All. The installer</a:t>
            </a:r>
            <a:br/>
            <a:r>
              <a:t>downloads code, creates the</a:t>
            </a:r>
            <a:br/>
            <a:r>
              <a:t>app, and grants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5176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80" y="150876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  <a:latin typeface="Calibri"/>
              </a:defRPr>
            </a:pPr>
            <a:r>
              <a:t>Confirm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Open the app URL. The admin</a:t>
            </a:r>
            <a:br/>
            <a:r>
              <a:t>page appears with pre-filled</a:t>
            </a:r>
            <a:br/>
            <a:r>
              <a:t>config. Click Save &amp; Start</a:t>
            </a:r>
            <a:br/>
            <a:r>
              <a:t>to begin data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65176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95560" y="150876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0D1117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  <a:latin typeface="Calibri"/>
              </a:defRPr>
            </a:pPr>
            <a:r>
              <a:t>Dashboard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Data collection completes in</a:t>
            </a:r>
            <a:br/>
            <a:r>
              <a:t>2-4 minutes. Full 14-tab</a:t>
            </a:r>
            <a:br/>
            <a:r>
              <a:t>dashboard is live. Set auto-</a:t>
            </a:r>
            <a:br/>
            <a:r>
              <a:t>refresh for continuous monitoring.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Key Platform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265176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B7BF5"/>
                </a:solidFill>
                <a:latin typeface="Calibri"/>
              </a:defRPr>
            </a:pPr>
            <a:r>
              <a:t>Universal Cloud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74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Works on AWS, Azure, and GCP</a:t>
            </a:r>
            <a:br/>
            <a:r>
              <a:t>Databricks workspaces with</a:t>
            </a:r>
            <a:br/>
            <a:r>
              <a:t>auto-detection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663440"/>
            <a:ext cx="265176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License-Gated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074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Enterprise licensing with remote</a:t>
            </a:r>
            <a:br/>
            <a:r>
              <a:t>validation, expiration, key rotation,</a:t>
            </a:r>
            <a:br/>
            <a:r>
              <a:t>and 48-hour grace period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663440"/>
            <a:ext cx="265176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Calibri"/>
              </a:defRPr>
            </a:pPr>
            <a:r>
              <a:t>Scheduled Refresh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74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Manual, hourly, daily, or weekly</a:t>
            </a:r>
            <a:br/>
            <a:r>
              <a:t>data collection. Auto-refresh</a:t>
            </a:r>
            <a:br/>
            <a:r>
              <a:t>keeps dashboards current.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663440"/>
            <a:ext cx="265176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  <a:latin typeface="Calibri"/>
              </a:defRPr>
            </a:pPr>
            <a:r>
              <a:t>Excel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074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One-click security and usage</a:t>
            </a:r>
            <a:br/>
            <a:r>
              <a:t>report downloads for stakeholders</a:t>
            </a:r>
            <a:br/>
            <a:r>
              <a:t>who don't access the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LHO Lite by Blueprint Technologies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B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Business Value &amp;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B7BF5"/>
                </a:solidFill>
                <a:latin typeface="Calibri"/>
              </a:defRPr>
            </a:pPr>
            <a:r>
              <a:t>Cost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$30K - $250K+/yr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12-25% reduction in Databricks spend</a:t>
            </a:r>
            <a:br/>
            <a:r>
              <a:t>through waste identification, right-sizing,</a:t>
            </a:r>
            <a:br/>
            <a:r>
              <a:t>and workload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Identify idle warehouses &amp; clusters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Per-job cost attribution to owners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Untagged workload detection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Daily cost trend anomaly spotting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56616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7171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Risk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Continuous monitoring replaces</a:t>
            </a:r>
            <a:br/>
            <a:r>
              <a:t>quarterly audits and point-in-time</a:t>
            </a:r>
            <a:br/>
            <a:r>
              <a:t>consulting engagements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Credential exposure detection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HIPAA / FedRAMP / SOC 2 / RBAC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NIST-mapped security findings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16-point automated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56616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Operational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EDF3"/>
                </a:solidFill>
                <a:latin typeface="Calibri"/>
              </a:defRPr>
            </a:pPr>
            <a:r>
              <a:t>55-111 hrs/month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Replace manual data gathering</a:t>
            </a:r>
            <a:br/>
            <a:r>
              <a:t>with automated, always-current</a:t>
            </a:r>
            <a:br/>
            <a:r>
              <a:t>dashboards and 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06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One-click Excel reports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Real-time cost &amp; usage dashboards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User activity &amp; job monitoring</a:t>
            </a:r>
          </a:p>
          <a:p>
            <a:pPr>
              <a:spcBef>
                <a:spcPts val="300"/>
              </a:spcBef>
              <a:defRPr sz="1000" b="0">
                <a:solidFill>
                  <a:srgbClr val="E6EDF3"/>
                </a:solidFill>
                <a:latin typeface="Calibri"/>
              </a:defRPr>
            </a:pPr>
            <a:r>
              <a:t>  Infrastructure health inventory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77295" cy="1097280"/>
          </a:xfrm>
          <a:prstGeom prst="roundRect">
            <a:avLst/>
          </a:prstGeom>
          <a:solidFill>
            <a:srgbClr val="101825"/>
          </a:solidFill>
          <a:ln w="12700">
            <a:solidFill>
              <a:srgbClr val="272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7BF5"/>
                </a:solidFill>
                <a:latin typeface="Calibri"/>
              </a:defRPr>
            </a:pPr>
            <a:r>
              <a:t>10-30x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ROI within 90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7BF5"/>
                </a:solidFill>
                <a:latin typeface="Calibri"/>
              </a:defRPr>
            </a:pPr>
            <a:r>
              <a:t>&lt;30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7BF5"/>
                </a:solidFill>
                <a:latin typeface="Calibri"/>
              </a:defRPr>
            </a:pPr>
            <a:r>
              <a:t>5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Time to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7BF5"/>
                </a:solidFill>
                <a:latin typeface="Calibri"/>
              </a:defRPr>
            </a:pPr>
            <a:r>
              <a:t>0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Infrastructure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7BF5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Additional cloud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  <a:latin typeface="Calibri"/>
              </a:defRPr>
            </a:pPr>
            <a:r>
              <a:t>LHO Lite: Deploy once, monitor continuously, optimize always.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LHO Lite by Blueprint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